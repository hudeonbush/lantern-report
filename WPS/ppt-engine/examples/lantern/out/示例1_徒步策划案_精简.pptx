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徒步团建活动策划案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3200" y="1524000"/>
            <a:ext cx="11785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3000" b="1">
                <a:solidFill>
                  <a:srgbClr val="1A3C8B"/>
                </a:solidFill>
                <a:latin typeface="微软雅黑" panose="020B0503020204020204" charset="-122"/>
                <a:ea typeface="微软雅黑" panose="020B0503020204020204" charset="-122"/>
              </a:rPr>
              <a:t>宁波金发新材料有限公司「春日山野」</a:t>
            </a:r>
            <a:endParaRPr lang="zh-CN" altLang="en-US" sz="3000" b="1">
              <a:solidFill>
                <a:srgbClr val="1A3C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3200" y="2311400"/>
            <a:ext cx="11785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2400" b="1">
                <a:solidFill>
                  <a:srgbClr val="1A3C8B"/>
                </a:solidFill>
                <a:latin typeface="微软雅黑" panose="020B0503020204020204" charset="-122"/>
                <a:ea typeface="微软雅黑" panose="020B0503020204020204" charset="-122"/>
              </a:rPr>
              <a:t>徒步团建活动策划案</a:t>
            </a:r>
            <a:endParaRPr lang="zh-CN" altLang="en-US" sz="2400" b="1">
              <a:solidFill>
                <a:srgbClr val="1A3C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3200" y="3073400"/>
            <a:ext cx="11785600" cy="1625600"/>
          </a:xfrm>
          <a:prstGeom prst="rect">
            <a:avLst/>
          </a:prstGeom>
          <a:solidFill>
            <a:srgbClr val="F3F5F8"/>
          </a:solidFill>
          <a:ln w="11430">
            <a:solidFill>
              <a:srgbClr val="D2D9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81000" y="3136900"/>
            <a:ext cx="279400" cy="279400"/>
          </a:xfrm>
          <a:prstGeom prst="ellipse">
            <a:avLst/>
          </a:prstGeom>
          <a:solidFill>
            <a:srgbClr val="467A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1000" y="31369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000" y="3162300"/>
            <a:ext cx="228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3C70B6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lang="zh-CN" altLang="en-US" sz="1100">
              <a:solidFill>
                <a:srgbClr val="3C70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41400" y="3124200"/>
            <a:ext cx="107442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400" b="1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活动主题：春日山野</a:t>
            </a:r>
            <a:r>
              <a:rPr lang="en-US" altLang="zh-CN" sz="1400" b="1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 b="1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徒步同行</a:t>
            </a:r>
            <a:endParaRPr lang="zh-CN" altLang="en-US" sz="1400" b="1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81000" y="3543300"/>
            <a:ext cx="279400" cy="279400"/>
          </a:xfrm>
          <a:prstGeom prst="ellipse">
            <a:avLst/>
          </a:prstGeom>
          <a:solidFill>
            <a:srgbClr val="467A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81000" y="35433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2000" y="3568700"/>
            <a:ext cx="228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3C70B6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lang="zh-CN" altLang="en-US" sz="1100">
              <a:solidFill>
                <a:srgbClr val="3C70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41400" y="3530600"/>
            <a:ext cx="107442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活动时间：</a:t>
            </a:r>
            <a:r>
              <a:rPr lang="en-US" altLang="zh-CN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月中旬某周六</a:t>
            </a:r>
            <a:r>
              <a:rPr lang="en-US" altLang="zh-CN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08:00-17:00</a:t>
            </a:r>
            <a:r>
              <a:rPr lang="zh-CN" altLang="en-US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（暂定，视天气调整）</a:t>
            </a:r>
            <a:endParaRPr lang="zh-CN" altLang="en-US" sz="14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381000" y="3949700"/>
            <a:ext cx="279400" cy="279400"/>
          </a:xfrm>
          <a:prstGeom prst="ellipse">
            <a:avLst/>
          </a:prstGeom>
          <a:solidFill>
            <a:srgbClr val="467A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81000" y="39497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2000" y="3975100"/>
            <a:ext cx="228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3C70B6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lang="zh-CN" altLang="en-US" sz="1100">
              <a:solidFill>
                <a:srgbClr val="3C70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41400" y="3937000"/>
            <a:ext cx="107442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参与人员：部门全员及家属（预计</a:t>
            </a:r>
            <a:r>
              <a:rPr lang="en-US" altLang="zh-CN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30-40 </a:t>
            </a:r>
            <a:r>
              <a:rPr lang="zh-CN" altLang="en-US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人）</a:t>
            </a:r>
            <a:endParaRPr lang="zh-CN" altLang="en-US" sz="14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81000" y="4356100"/>
            <a:ext cx="279400" cy="279400"/>
          </a:xfrm>
          <a:prstGeom prst="ellipse">
            <a:avLst/>
          </a:prstGeom>
          <a:solidFill>
            <a:srgbClr val="467A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81000" y="43561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62000" y="4381500"/>
            <a:ext cx="228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3C70B6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lang="zh-CN" altLang="en-US" sz="1100">
              <a:solidFill>
                <a:srgbClr val="3C70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41400" y="4343400"/>
            <a:ext cx="107442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活动地点：市郊生态绿道（约</a:t>
            </a:r>
            <a:r>
              <a:rPr lang="en-US" altLang="zh-CN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公里环线，难度适中）</a:t>
            </a:r>
            <a:endParaRPr lang="zh-CN" altLang="en-US" sz="14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03200" y="5740400"/>
            <a:ext cx="11785600" cy="508000"/>
          </a:xfrm>
          <a:prstGeom prst="roundRect">
            <a:avLst/>
          </a:prstGeom>
          <a:solidFill>
            <a:srgbClr val="C0181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03200" y="5740400"/>
            <a:ext cx="11785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本方案由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Lantern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全自动生成：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一条命令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成品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PPT/PDF</a:t>
            </a:r>
            <a:endParaRPr lang="en-US" alt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活动方案与行程安排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3200" y="736600"/>
            <a:ext cx="11785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为缓解工作压力、增强团队凝聚力，通过徒步健走、团队任务与山野交流，帮助同事放松身心、增进了解，同时锻炼体能与协作能力。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3200" y="1397000"/>
            <a:ext cx="11785600" cy="431800"/>
          </a:xfrm>
          <a:prstGeom prst="rect">
            <a:avLst/>
          </a:prstGeom>
          <a:solidFill>
            <a:srgbClr val="2054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03200" y="13970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08200" y="13970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环节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18200" y="1397000"/>
            <a:ext cx="6070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内容说明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03200" y="1828800"/>
            <a:ext cx="11785600" cy="5588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203200" y="18288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30200" y="1828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08:00-08:30</a:t>
            </a:r>
            <a:endParaRPr lang="en-US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35200" y="18923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集合出发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45200" y="1892300"/>
            <a:ext cx="5816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公司门口集合，大巴准时出发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3200" y="2387600"/>
            <a:ext cx="117856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03200" y="23876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30200" y="23876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09:00-09:20</a:t>
            </a:r>
            <a:endParaRPr lang="en-US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35200" y="24511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热身分组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45200" y="2451100"/>
            <a:ext cx="5816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领队带队热身，分组发放物资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03200" y="2946400"/>
            <a:ext cx="11785600" cy="5588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203200" y="29464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30200" y="29464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09:20-11:30</a:t>
            </a:r>
            <a:endParaRPr lang="en-US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35200" y="30099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徒步第一阶段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45200" y="3009900"/>
            <a:ext cx="5816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环线前</a:t>
            </a:r>
            <a:r>
              <a:rPr lang="en-US" altLang="zh-CN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公里，设置</a:t>
            </a:r>
            <a:r>
              <a:rPr lang="en-US" altLang="zh-CN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个打卡点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03200" y="3505200"/>
            <a:ext cx="117856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/>
        </p:nvCxnSpPr>
        <p:spPr>
          <a:xfrm>
            <a:off x="203200" y="35052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330200" y="35052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11:30-12:30</a:t>
            </a:r>
            <a:endParaRPr lang="en-US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35200" y="35687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午餐休息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045200" y="3568700"/>
            <a:ext cx="5816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中途补给站简餐，稍作休整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3200" y="4064000"/>
            <a:ext cx="11785600" cy="5588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203200" y="40640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330200" y="40640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12:30-15:00</a:t>
            </a:r>
            <a:endParaRPr lang="en-US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235200" y="41275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徒步第二阶段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045200" y="4127500"/>
            <a:ext cx="5816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</a:t>
            </a:r>
            <a:r>
              <a:rPr lang="en-US" altLang="zh-CN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公里，打卡任务与团队合影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03200" y="4622800"/>
            <a:ext cx="117856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/>
        </p:nvCxnSpPr>
        <p:spPr>
          <a:xfrm>
            <a:off x="203200" y="46228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330200" y="462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15:00-16:30</a:t>
            </a:r>
            <a:endParaRPr lang="en-US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35200" y="46863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团建游戏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045200" y="4686300"/>
            <a:ext cx="5816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终点草坪趣味游戏，颁奖合影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03200" y="5181600"/>
            <a:ext cx="11785600" cy="5588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/>
        </p:nvCxnSpPr>
        <p:spPr>
          <a:xfrm>
            <a:off x="203200" y="51816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330200" y="51816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16:30-17:00</a:t>
            </a:r>
            <a:endParaRPr lang="en-US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235200" y="52451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返程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045200" y="5245100"/>
            <a:ext cx="5816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整理物资，大巴返程解散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203200" y="57404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预算与保障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03200" y="736600"/>
            <a:ext cx="11785600" cy="406400"/>
          </a:xfrm>
          <a:prstGeom prst="rect">
            <a:avLst/>
          </a:prstGeom>
          <a:solidFill>
            <a:srgbClr val="2054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03200" y="736600"/>
            <a:ext cx="292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预算项目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24200" y="7366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金额（元）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34200" y="736600"/>
            <a:ext cx="5054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备注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03200" y="1143000"/>
            <a:ext cx="11785600" cy="4572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03200" y="11430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30200" y="1143000"/>
            <a:ext cx="292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大巴交通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51200" y="12065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2500</a:t>
            </a:r>
            <a:endParaRPr lang="en-US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61200" y="1206500"/>
            <a:ext cx="4800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往返接送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03200" y="1600200"/>
            <a:ext cx="117856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203200" y="16002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30200" y="1600200"/>
            <a:ext cx="292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物资采购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251200" y="16637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1500</a:t>
            </a:r>
            <a:endParaRPr lang="en-US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61200" y="1663700"/>
            <a:ext cx="4800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队服、补给、道具等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3200" y="2057400"/>
            <a:ext cx="11785600" cy="4572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203200" y="20574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330200" y="2057400"/>
            <a:ext cx="292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午餐团餐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251200" y="21209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4000</a:t>
            </a:r>
            <a:endParaRPr lang="en-US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061200" y="2120900"/>
            <a:ext cx="4800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</a:t>
            </a:r>
            <a:r>
              <a:rPr lang="en-US" altLang="zh-CN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 </a:t>
            </a:r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人计，人均</a:t>
            </a:r>
            <a:r>
              <a:rPr lang="en-US" altLang="zh-CN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 </a:t>
            </a:r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3200" y="2514600"/>
            <a:ext cx="117856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203200" y="25146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30200" y="2514600"/>
            <a:ext cx="292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保险费用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251200" y="25781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400</a:t>
            </a:r>
            <a:endParaRPr lang="en-US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061200" y="2578100"/>
            <a:ext cx="4800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</a:t>
            </a:r>
            <a:r>
              <a:rPr lang="en-US" altLang="zh-CN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 </a:t>
            </a:r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人计，人均</a:t>
            </a:r>
            <a:r>
              <a:rPr lang="en-US" altLang="zh-CN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03200" y="2971800"/>
            <a:ext cx="11785600" cy="4572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>
            <a:off x="203200" y="29718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30200" y="2971800"/>
            <a:ext cx="292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应急预备金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251200" y="30353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1000</a:t>
            </a:r>
            <a:endParaRPr lang="en-US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061200" y="3035300"/>
            <a:ext cx="4800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不可预见支出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03200" y="3429000"/>
            <a:ext cx="117856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>
            <a:off x="203200" y="34290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330200" y="3429000"/>
            <a:ext cx="292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合计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251200" y="3492500"/>
            <a:ext cx="355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9400</a:t>
            </a:r>
            <a:endParaRPr lang="en-US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061200" y="3492500"/>
            <a:ext cx="4800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按实际人数调整</a:t>
            </a:r>
            <a:endParaRPr lang="zh-CN" altLang="en-US" sz="11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03200" y="3886200"/>
            <a:ext cx="117856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203200" y="4191000"/>
            <a:ext cx="11785600" cy="1168400"/>
          </a:xfrm>
          <a:prstGeom prst="rect">
            <a:avLst/>
          </a:prstGeom>
          <a:solidFill>
            <a:srgbClr val="F3F5F8"/>
          </a:solidFill>
          <a:ln w="11430">
            <a:solidFill>
              <a:srgbClr val="D2D9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381000" y="4343400"/>
            <a:ext cx="279400" cy="279400"/>
          </a:xfrm>
          <a:prstGeom prst="ellipse">
            <a:avLst/>
          </a:prstGeom>
          <a:solidFill>
            <a:srgbClr val="467A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381000" y="43434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62000" y="4368800"/>
            <a:ext cx="228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3C70B6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lang="zh-CN" altLang="en-US" sz="1100">
              <a:solidFill>
                <a:srgbClr val="3C70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41400" y="4241800"/>
            <a:ext cx="107442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人员保障：专业户外领队</a:t>
            </a:r>
            <a:r>
              <a:rPr lang="en-US" altLang="zh-CN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名、随行安全员</a:t>
            </a:r>
            <a:r>
              <a:rPr lang="en-US" altLang="zh-CN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名、随队车辆</a:t>
            </a:r>
            <a:r>
              <a:rPr lang="en-US" altLang="zh-CN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辆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81000" y="4927600"/>
            <a:ext cx="279400" cy="279400"/>
          </a:xfrm>
          <a:prstGeom prst="ellipse">
            <a:avLst/>
          </a:prstGeom>
          <a:solidFill>
            <a:srgbClr val="467A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381000" y="49276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62000" y="4953000"/>
            <a:ext cx="228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3C70B6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lang="zh-CN" altLang="en-US" sz="1100">
              <a:solidFill>
                <a:srgbClr val="3C70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041400" y="4826000"/>
            <a:ext cx="107442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保险与应急：全员当日意外险；天气预警顺延，身体不适可就近撤离休息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203200" y="5740400"/>
            <a:ext cx="11785600" cy="508000"/>
          </a:xfrm>
          <a:prstGeom prst="roundRect">
            <a:avLst/>
          </a:prstGeom>
          <a:solidFill>
            <a:srgbClr val="C0181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203200" y="5740400"/>
            <a:ext cx="11785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改动预算、日程只需修改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JSON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数字，重新运行即得新版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全自动、可复现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</Words>
  <Application>WPS 演示</Application>
  <PresentationFormat>宽屏</PresentationFormat>
  <Paragraphs>154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10625</dc:creator>
  <cp:lastModifiedBy>李聃0986</cp:lastModifiedBy>
  <cp:revision>157</cp:revision>
  <dcterms:created xsi:type="dcterms:W3CDTF">2019-06-19T02:08:00Z</dcterms:created>
  <dcterms:modified xsi:type="dcterms:W3CDTF">2026-10-29T05:59:54Z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84E42565C1494BBE95B1E0FE98EB705B_11</vt:lpwstr>
  </property>
</Properties>
</file>