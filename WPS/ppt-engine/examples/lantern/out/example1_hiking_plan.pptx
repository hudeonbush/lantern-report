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A7A5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62000" y="1651000"/>
            <a:ext cx="1066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46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春日山野</a:t>
            </a:r>
            <a:r>
              <a:rPr lang="en-US" altLang="zh-CN" sz="46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46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徒步同行</a:t>
            </a:r>
            <a:endParaRPr lang="zh-CN" altLang="en-US" sz="46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00" y="2870200"/>
            <a:ext cx="1066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2100">
                <a:solidFill>
                  <a:srgbClr val="3A6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宁波金发新材料有限公司</a:t>
            </a:r>
            <a:r>
              <a:rPr lang="en-US" altLang="zh-CN" sz="2100">
                <a:solidFill>
                  <a:srgbClr val="3A6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100">
                <a:solidFill>
                  <a:srgbClr val="3A6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徒步团建活动策划案</a:t>
            </a:r>
            <a:endParaRPr lang="zh-CN" altLang="en-US" sz="2100">
              <a:solidFill>
                <a:srgbClr val="3A6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2000" y="3454400"/>
            <a:ext cx="1066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lang="en-US" altLang="zh-CN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Lantern </a:t>
            </a:r>
            <a:r>
              <a:rPr lang="zh-CN" altLang="en-US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全自动化引擎生成</a:t>
            </a:r>
            <a:r>
              <a:rPr lang="en-US" altLang="zh-CN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数据驱动</a:t>
            </a:r>
            <a:r>
              <a:rPr lang="en-US" altLang="zh-CN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一行</a:t>
            </a:r>
            <a:r>
              <a:rPr lang="en-US" altLang="zh-CN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JSON </a:t>
            </a:r>
            <a:r>
              <a:rPr lang="zh-CN" altLang="en-US" sz="135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一套成品</a:t>
            </a:r>
            <a:endParaRPr lang="zh-CN" altLang="en-US" sz="1350">
              <a:solidFill>
                <a:srgbClr val="7A94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2000" y="4191000"/>
            <a:ext cx="2540000" cy="431800"/>
          </a:xfrm>
          <a:prstGeom prst="rect">
            <a:avLst/>
          </a:prstGeom>
          <a:solidFill>
            <a:srgbClr val="E8F4EC"/>
          </a:solidFill>
          <a:ln w="12700">
            <a:solidFill>
              <a:srgbClr val="7CBF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62000" y="41910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活动时间</a:t>
            </a:r>
            <a:endParaRPr lang="zh-CN" altLang="en-US" sz="13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05200" y="4191000"/>
            <a:ext cx="2540000" cy="431800"/>
          </a:xfrm>
          <a:prstGeom prst="rect">
            <a:avLst/>
          </a:prstGeom>
          <a:solidFill>
            <a:srgbClr val="E8F4EC"/>
          </a:solidFill>
          <a:ln w="12700">
            <a:solidFill>
              <a:srgbClr val="7CBF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505200" y="41910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活动地点</a:t>
            </a:r>
            <a:endParaRPr lang="zh-CN" altLang="en-US" sz="13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248400" y="4191000"/>
            <a:ext cx="2540000" cy="431800"/>
          </a:xfrm>
          <a:prstGeom prst="rect">
            <a:avLst/>
          </a:prstGeom>
          <a:solidFill>
            <a:srgbClr val="E8F4EC"/>
          </a:solidFill>
          <a:ln w="12700">
            <a:solidFill>
              <a:srgbClr val="7CBF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248400" y="41910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参与人员</a:t>
            </a:r>
            <a:endParaRPr lang="zh-CN" altLang="en-US" sz="13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991600" y="4191000"/>
            <a:ext cx="2540000" cy="431800"/>
          </a:xfrm>
          <a:prstGeom prst="rect">
            <a:avLst/>
          </a:prstGeom>
          <a:solidFill>
            <a:srgbClr val="E8F4EC"/>
          </a:solidFill>
          <a:ln w="12700">
            <a:solidFill>
              <a:srgbClr val="7CBFA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991600" y="41910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徒步里程</a:t>
            </a:r>
            <a:endParaRPr lang="zh-CN" altLang="en-US" sz="13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2000" y="46736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>
                <a:solidFill>
                  <a:srgbClr val="3A5A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300">
                <a:solidFill>
                  <a:srgbClr val="3A5A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月中旬某周六</a:t>
            </a:r>
            <a:endParaRPr lang="zh-CN" altLang="en-US" sz="1300">
              <a:solidFill>
                <a:srgbClr val="3A5A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05200" y="46736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>
                <a:solidFill>
                  <a:srgbClr val="3A5A48"/>
                </a:solidFill>
                <a:latin typeface="微软雅黑" panose="020B0503020204020204" charset="-122"/>
                <a:ea typeface="微软雅黑" panose="020B0503020204020204" charset="-122"/>
              </a:rPr>
              <a:t>市郊生态绿道</a:t>
            </a:r>
            <a:endParaRPr lang="zh-CN" altLang="en-US" sz="1300">
              <a:solidFill>
                <a:srgbClr val="3A5A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48400" y="46736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>
                <a:solidFill>
                  <a:srgbClr val="3A5A48"/>
                </a:solidFill>
                <a:latin typeface="微软雅黑" panose="020B0503020204020204" charset="-122"/>
                <a:ea typeface="微软雅黑" panose="020B0503020204020204" charset="-122"/>
              </a:rPr>
              <a:t>部门全员及家属</a:t>
            </a:r>
            <a:endParaRPr lang="zh-CN" altLang="en-US" sz="1300">
              <a:solidFill>
                <a:srgbClr val="3A5A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991600" y="46736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>
                <a:solidFill>
                  <a:srgbClr val="3A5A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1300">
                <a:solidFill>
                  <a:srgbClr val="3A5A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300">
                <a:solidFill>
                  <a:srgbClr val="3A5A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公里环线</a:t>
            </a:r>
            <a:endParaRPr lang="zh-CN" altLang="en-US" sz="1300">
              <a:solidFill>
                <a:srgbClr val="3A5A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 descr="bar_gree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969000"/>
            <a:ext cx="12192000" cy="8890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0" y="5969000"/>
            <a:ext cx="12192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本方案由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Lantern </a:t>
            </a:r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全自动生成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一行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JSON</a:t>
            </a:r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，一套成品</a:t>
            </a:r>
            <a:endParaRPr lang="zh-CN" altLang="en-US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ccent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3200"/>
            <a:ext cx="88900" cy="266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" y="127000"/>
            <a:ext cx="800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·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活动概览</a:t>
            </a:r>
            <a:r>
              <a:rPr lang="en-US" altLang="zh-CN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走进春天，与团队同行</a:t>
            </a:r>
            <a:endParaRPr lang="zh-CN" altLang="en-US" sz="25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074400" y="177800"/>
            <a:ext cx="279400" cy="279400"/>
          </a:xfrm>
          <a:prstGeom prst="roundRect">
            <a:avLst/>
          </a:prstGeom>
          <a:solidFill>
            <a:srgbClr val="245C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074400" y="1778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04600" y="177800"/>
            <a:ext cx="787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400" b="1">
                <a:solidFill>
                  <a:srgbClr val="245CAA"/>
                </a:solidFill>
                <a:latin typeface="微软雅黑" panose="020B0503020204020204" charset="-122"/>
                <a:ea typeface="微软雅黑" panose="020B0503020204020204" charset="-122"/>
              </a:rPr>
              <a:t>Lantern</a:t>
            </a:r>
            <a:endParaRPr lang="en-US" altLang="en-US" sz="1400" b="1">
              <a:solidFill>
                <a:srgbClr val="245C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8600" y="609600"/>
            <a:ext cx="11734800" cy="635"/>
          </a:xfrm>
          <a:prstGeom prst="line">
            <a:avLst/>
          </a:prstGeom>
          <a:ln w="25400">
            <a:solidFill>
              <a:srgbClr val="6094D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8600" y="647700"/>
            <a:ext cx="2032000" cy="635"/>
          </a:xfrm>
          <a:prstGeom prst="line">
            <a:avLst/>
          </a:prstGeom>
          <a:ln w="31750">
            <a:solidFill>
              <a:srgbClr val="245C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62000" y="1168400"/>
            <a:ext cx="5588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39800" y="1371600"/>
            <a:ext cx="76200" cy="4572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8400" y="12954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活动主题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8400" y="16510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春日山野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徒步同行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以自然徒步凝聚团队，释放工作压力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62000" y="2489200"/>
            <a:ext cx="5588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39800" y="2692400"/>
            <a:ext cx="76200" cy="4572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68400" y="26162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活动时间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68400" y="29718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月中旬某周六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08:00-17:00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（暂定，视天气调整）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62000" y="3810000"/>
            <a:ext cx="5588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39800" y="4013200"/>
            <a:ext cx="76200" cy="4572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68400" y="39370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活动地点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68400" y="42926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市郊生态绿道（约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公里环线，难度适中，适合全家参与）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62000" y="5130800"/>
            <a:ext cx="5588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39800" y="5334000"/>
            <a:ext cx="76200" cy="4572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168400" y="5257800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参与人员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68400" y="56134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部门全员及家属，预计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30-40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人，按报名分组出行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 descr="hike_p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0" y="1727200"/>
            <a:ext cx="4826000" cy="270510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731000" y="4978400"/>
            <a:ext cx="482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成品示例：</a:t>
            </a:r>
            <a:r>
              <a:rPr lang="en-US" altLang="zh-CN" sz="12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Lantern </a:t>
            </a:r>
            <a:r>
              <a:rPr lang="zh-CN" altLang="en-US" sz="12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生成的一页策划案</a:t>
            </a:r>
            <a:endParaRPr lang="zh-CN" altLang="en-US" sz="1200">
              <a:solidFill>
                <a:srgbClr val="7A94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ccent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3200"/>
            <a:ext cx="88900" cy="266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" y="127000"/>
            <a:ext cx="800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·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行程安排</a:t>
            </a:r>
            <a:r>
              <a:rPr lang="en-US" altLang="zh-CN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从清晨出发，到满载而归</a:t>
            </a:r>
            <a:endParaRPr lang="zh-CN" altLang="en-US" sz="25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074400" y="177800"/>
            <a:ext cx="279400" cy="279400"/>
          </a:xfrm>
          <a:prstGeom prst="roundRect">
            <a:avLst/>
          </a:prstGeom>
          <a:solidFill>
            <a:srgbClr val="245C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074400" y="1778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04600" y="177800"/>
            <a:ext cx="787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400" b="1">
                <a:solidFill>
                  <a:srgbClr val="245CAA"/>
                </a:solidFill>
                <a:latin typeface="微软雅黑" panose="020B0503020204020204" charset="-122"/>
                <a:ea typeface="微软雅黑" panose="020B0503020204020204" charset="-122"/>
              </a:rPr>
              <a:t>Lantern</a:t>
            </a:r>
            <a:endParaRPr lang="en-US" altLang="en-US" sz="1400" b="1">
              <a:solidFill>
                <a:srgbClr val="245C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8600" y="609600"/>
            <a:ext cx="11734800" cy="635"/>
          </a:xfrm>
          <a:prstGeom prst="line">
            <a:avLst/>
          </a:prstGeom>
          <a:ln w="25400">
            <a:solidFill>
              <a:srgbClr val="6094D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8600" y="647700"/>
            <a:ext cx="2032000" cy="635"/>
          </a:xfrm>
          <a:prstGeom prst="line">
            <a:avLst/>
          </a:prstGeom>
          <a:ln w="31750">
            <a:solidFill>
              <a:srgbClr val="245C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219200" y="2362200"/>
            <a:ext cx="9753600" cy="635"/>
          </a:xfrm>
          <a:prstGeom prst="line">
            <a:avLst/>
          </a:prstGeom>
          <a:ln w="25400">
            <a:solidFill>
              <a:srgbClr val="7CBFA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1016000" y="2133600"/>
            <a:ext cx="508000" cy="508000"/>
          </a:xfrm>
          <a:prstGeom prst="ellipse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16000" y="21336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302000" y="2133600"/>
            <a:ext cx="508000" cy="508000"/>
          </a:xfrm>
          <a:prstGeom prst="ellipse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302000" y="21336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588000" y="2133600"/>
            <a:ext cx="508000" cy="508000"/>
          </a:xfrm>
          <a:prstGeom prst="ellipse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588000" y="21336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7874000" y="2133600"/>
            <a:ext cx="508000" cy="508000"/>
          </a:xfrm>
          <a:prstGeom prst="ellipse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874000" y="21336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0160000" y="2133600"/>
            <a:ext cx="508000" cy="508000"/>
          </a:xfrm>
          <a:prstGeom prst="ellipse">
            <a:avLst/>
          </a:prstGeom>
          <a:solidFill>
            <a:srgbClr val="E2701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0160000" y="21336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1500" y="28956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0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07:30</a:t>
            </a:r>
            <a:endParaRPr lang="en-US" altLang="en-US" sz="20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57500" y="28956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0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09:00</a:t>
            </a:r>
            <a:endParaRPr lang="en-US" altLang="en-US" sz="20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143500" y="28956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0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09:30</a:t>
            </a:r>
            <a:endParaRPr lang="en-US" altLang="en-US" sz="20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429500" y="28956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0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12:00</a:t>
            </a:r>
            <a:endParaRPr lang="en-US" altLang="en-US" sz="20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715500" y="28956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000" b="1">
                <a:solidFill>
                  <a:srgbClr val="E2701E"/>
                </a:solidFill>
                <a:latin typeface="微软雅黑" panose="020B0503020204020204" charset="-122"/>
                <a:ea typeface="微软雅黑" panose="020B0503020204020204" charset="-122"/>
              </a:rPr>
              <a:t>14:30</a:t>
            </a:r>
            <a:endParaRPr lang="en-US" altLang="en-US" sz="2000" b="1">
              <a:solidFill>
                <a:srgbClr val="E2701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1500" y="3352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集合出发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57500" y="3352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抵达绿道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143500" y="3352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徒步登山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429500" y="3352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山顶路餐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715500" y="33528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E2701E"/>
                </a:solidFill>
                <a:latin typeface="微软雅黑" panose="020B0503020204020204" charset="-122"/>
                <a:ea typeface="微软雅黑" panose="020B0503020204020204" charset="-122"/>
              </a:rPr>
              <a:t>返程归队</a:t>
            </a:r>
            <a:endParaRPr lang="zh-CN" altLang="en-US" sz="1500" b="1">
              <a:solidFill>
                <a:srgbClr val="E2701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71500" y="3822192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公司门口集合</a:t>
            </a:r>
            <a:r>
              <a:rPr lang="en-US" altLang="zh-CN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大巴</a:t>
            </a:r>
            <a:r>
              <a:rPr lang="en-US" altLang="zh-CN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</a:t>
            </a:r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辆</a:t>
            </a:r>
            <a:endParaRPr lang="zh-CN" altLang="en-US" sz="1200">
              <a:solidFill>
                <a:srgbClr val="5A6B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857500" y="3822192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起点合影</a:t>
            </a:r>
            <a:r>
              <a:rPr lang="en-US" altLang="zh-CN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安全讲解</a:t>
            </a:r>
            <a:endParaRPr lang="zh-CN" altLang="en-US" sz="1200">
              <a:solidFill>
                <a:srgbClr val="5A6B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143500" y="3822192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双线路可选</a:t>
            </a:r>
            <a:r>
              <a:rPr lang="en-US" altLang="zh-CN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领队带队</a:t>
            </a:r>
            <a:endParaRPr lang="zh-CN" altLang="en-US" sz="1200">
              <a:solidFill>
                <a:srgbClr val="5A6B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429500" y="3822192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餐包补给</a:t>
            </a:r>
            <a:r>
              <a:rPr lang="en-US" altLang="zh-CN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稍作休整</a:t>
            </a:r>
            <a:endParaRPr lang="zh-CN" altLang="en-US" sz="1200">
              <a:solidFill>
                <a:srgbClr val="5A6B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715500" y="3822192"/>
            <a:ext cx="203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清点人数</a:t>
            </a:r>
            <a:r>
              <a:rPr lang="en-US" altLang="zh-CN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5A6B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安全返回</a:t>
            </a:r>
            <a:endParaRPr lang="zh-CN" altLang="en-US" sz="1200">
              <a:solidFill>
                <a:srgbClr val="5A6B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图片 34" descr="bar_oran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461000"/>
            <a:ext cx="10668000" cy="58420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762000" y="5461000"/>
            <a:ext cx="1066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徒步</a:t>
            </a:r>
            <a:r>
              <a:rPr lang="en-US" altLang="zh-CN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公里</a:t>
            </a:r>
            <a:r>
              <a:rPr lang="en-US" altLang="zh-CN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全程</a:t>
            </a:r>
            <a:r>
              <a:rPr lang="en-US" altLang="zh-CN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</a:t>
            </a:r>
            <a:r>
              <a:rPr lang="en-US" altLang="zh-CN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双线路设计老少皆宜</a:t>
            </a:r>
            <a:endParaRPr lang="zh-CN" altLang="en-US"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ccent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3200"/>
            <a:ext cx="88900" cy="266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" y="127000"/>
            <a:ext cx="800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·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安全保障</a:t>
            </a:r>
            <a:r>
              <a:rPr lang="en-US" altLang="zh-CN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安全是活动的底线</a:t>
            </a:r>
            <a:endParaRPr lang="zh-CN" altLang="en-US" sz="25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074400" y="177800"/>
            <a:ext cx="279400" cy="279400"/>
          </a:xfrm>
          <a:prstGeom prst="roundRect">
            <a:avLst/>
          </a:prstGeom>
          <a:solidFill>
            <a:srgbClr val="245C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074400" y="1778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04600" y="177800"/>
            <a:ext cx="787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400" b="1">
                <a:solidFill>
                  <a:srgbClr val="245CAA"/>
                </a:solidFill>
                <a:latin typeface="微软雅黑" panose="020B0503020204020204" charset="-122"/>
                <a:ea typeface="微软雅黑" panose="020B0503020204020204" charset="-122"/>
              </a:rPr>
              <a:t>Lantern</a:t>
            </a:r>
            <a:endParaRPr lang="en-US" altLang="en-US" sz="1400" b="1">
              <a:solidFill>
                <a:srgbClr val="245C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8600" y="609600"/>
            <a:ext cx="11734800" cy="635"/>
          </a:xfrm>
          <a:prstGeom prst="line">
            <a:avLst/>
          </a:prstGeom>
          <a:ln w="25400">
            <a:solidFill>
              <a:srgbClr val="6094D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8600" y="647700"/>
            <a:ext cx="2032000" cy="635"/>
          </a:xfrm>
          <a:prstGeom prst="line">
            <a:avLst/>
          </a:prstGeom>
          <a:ln w="31750">
            <a:solidFill>
              <a:srgbClr val="245C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62000" y="1168400"/>
            <a:ext cx="54610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39800" y="1371600"/>
            <a:ext cx="76200" cy="4318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8400" y="12954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领队保障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68400" y="1651000"/>
            <a:ext cx="482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名主领队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+ 2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名随队，全程带队控速、前后照应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62000" y="2387600"/>
            <a:ext cx="54610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39800" y="2590800"/>
            <a:ext cx="76200" cy="4318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68400" y="25146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急救保障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68400" y="2870200"/>
            <a:ext cx="482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随队急救包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套，应急药品、创伤处理用品齐全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62000" y="3606800"/>
            <a:ext cx="54610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939800" y="3810000"/>
            <a:ext cx="76200" cy="4318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168400" y="37338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保险保障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68400" y="4089400"/>
            <a:ext cx="482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</a:rPr>
              <a:t>全员户外意外险，出发前统一完成投保与名单核对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62000" y="4826000"/>
            <a:ext cx="5461000" cy="109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39800" y="5029200"/>
            <a:ext cx="76200" cy="4318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1168400" y="4953000"/>
            <a:ext cx="254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通讯保障</a:t>
            </a:r>
            <a:endParaRPr lang="zh-CN" altLang="en-US" sz="15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68400" y="5308600"/>
            <a:ext cx="4826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对讲机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台，紧急联络卡人手一份，每</a:t>
            </a:r>
            <a:r>
              <a:rPr lang="en-US" altLang="zh-CN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 </a:t>
            </a:r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分钟清点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604000" y="1270000"/>
            <a:ext cx="4826000" cy="431800"/>
          </a:xfrm>
          <a:prstGeom prst="rect">
            <a:avLst/>
          </a:prstGeom>
          <a:solidFill>
            <a:srgbClr val="2054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604000" y="12700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物资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779000" y="12700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数量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604000" y="1701800"/>
            <a:ext cx="4826000" cy="6604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6604000" y="1701800"/>
            <a:ext cx="4826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6731000" y="17018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矿泉水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906000" y="17653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 </a:t>
            </a:r>
            <a:r>
              <a:rPr lang="zh-CN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瓶</a:t>
            </a:r>
            <a:endParaRPr lang="zh-CN" altLang="en-US" sz="125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604000" y="2362200"/>
            <a:ext cx="48260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/>
        </p:nvCxnSpPr>
        <p:spPr>
          <a:xfrm>
            <a:off x="6604000" y="2362200"/>
            <a:ext cx="4826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6731000" y="23622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急救包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906000" y="24257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</a:t>
            </a:r>
            <a:endParaRPr lang="zh-CN" altLang="en-US" sz="125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604000" y="3022600"/>
            <a:ext cx="4826000" cy="6604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连接符 36"/>
          <p:cNvCxnSpPr/>
          <p:nvPr/>
        </p:nvCxnSpPr>
        <p:spPr>
          <a:xfrm>
            <a:off x="6604000" y="3022600"/>
            <a:ext cx="4826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731000" y="30226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对讲机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906000" y="30861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</a:t>
            </a:r>
            <a:r>
              <a:rPr lang="zh-CN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台</a:t>
            </a:r>
            <a:endParaRPr lang="zh-CN" altLang="en-US" sz="125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604000" y="3683000"/>
            <a:ext cx="48260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1" name="直接连接符 40"/>
          <p:cNvCxnSpPr/>
          <p:nvPr/>
        </p:nvCxnSpPr>
        <p:spPr>
          <a:xfrm>
            <a:off x="6604000" y="3683000"/>
            <a:ext cx="4826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6731000" y="36830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路餐包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906000" y="37465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 </a:t>
            </a:r>
            <a:r>
              <a:rPr lang="zh-CN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</a:t>
            </a:r>
            <a:endParaRPr lang="zh-CN" altLang="en-US" sz="125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604000" y="4343400"/>
            <a:ext cx="4826000" cy="6604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5" name="直接连接符 44"/>
          <p:cNvCxnSpPr/>
          <p:nvPr/>
        </p:nvCxnSpPr>
        <p:spPr>
          <a:xfrm>
            <a:off x="6604000" y="4343400"/>
            <a:ext cx="4826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6731000" y="43434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应急药品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906000" y="44069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</a:t>
            </a:r>
            <a:endParaRPr lang="zh-CN" altLang="en-US" sz="125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604000" y="5003800"/>
            <a:ext cx="4826000" cy="660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9" name="直接连接符 48"/>
          <p:cNvCxnSpPr/>
          <p:nvPr/>
        </p:nvCxnSpPr>
        <p:spPr>
          <a:xfrm>
            <a:off x="6604000" y="5003800"/>
            <a:ext cx="4826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6731000" y="50038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遮阳帽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906000" y="5067300"/>
            <a:ext cx="1397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 </a:t>
            </a:r>
            <a:r>
              <a:rPr lang="zh-CN" altLang="en-US" sz="125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</a:t>
            </a:r>
            <a:endParaRPr lang="zh-CN" altLang="en-US" sz="125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6604000" y="5664200"/>
            <a:ext cx="4826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ccent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3200"/>
            <a:ext cx="88900" cy="266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" y="127000"/>
            <a:ext cx="800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·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费用预算</a:t>
            </a:r>
            <a:r>
              <a:rPr lang="en-US" altLang="zh-CN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公开透明，花在刀刃上</a:t>
            </a:r>
            <a:endParaRPr lang="zh-CN" altLang="en-US" sz="25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074400" y="177800"/>
            <a:ext cx="279400" cy="279400"/>
          </a:xfrm>
          <a:prstGeom prst="roundRect">
            <a:avLst/>
          </a:prstGeom>
          <a:solidFill>
            <a:srgbClr val="245C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074400" y="1778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04600" y="177800"/>
            <a:ext cx="787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400" b="1">
                <a:solidFill>
                  <a:srgbClr val="245CAA"/>
                </a:solidFill>
                <a:latin typeface="微软雅黑" panose="020B0503020204020204" charset="-122"/>
                <a:ea typeface="微软雅黑" panose="020B0503020204020204" charset="-122"/>
              </a:rPr>
              <a:t>Lantern</a:t>
            </a:r>
            <a:endParaRPr lang="en-US" altLang="en-US" sz="1400" b="1">
              <a:solidFill>
                <a:srgbClr val="245C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8600" y="609600"/>
            <a:ext cx="11734800" cy="635"/>
          </a:xfrm>
          <a:prstGeom prst="line">
            <a:avLst/>
          </a:prstGeom>
          <a:ln w="25400">
            <a:solidFill>
              <a:srgbClr val="6094D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8600" y="647700"/>
            <a:ext cx="2032000" cy="635"/>
          </a:xfrm>
          <a:prstGeom prst="line">
            <a:avLst/>
          </a:prstGeom>
          <a:ln w="31750">
            <a:solidFill>
              <a:srgbClr val="245C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62000" y="1270000"/>
            <a:ext cx="10668000" cy="457200"/>
          </a:xfrm>
          <a:prstGeom prst="rect">
            <a:avLst/>
          </a:prstGeom>
          <a:solidFill>
            <a:srgbClr val="2054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62000" y="12700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72000" y="12700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单价（元）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77000" y="1270000"/>
            <a:ext cx="190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数量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82000" y="1270000"/>
            <a:ext cx="304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小计（元）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2000" y="1727200"/>
            <a:ext cx="10668000" cy="5588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762000" y="1727200"/>
            <a:ext cx="10668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89000" y="17272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大巴包车（往返）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699000" y="17907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900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04000" y="17907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辆</a:t>
            </a:r>
            <a:endParaRPr lang="zh-CN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09000" y="17907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1,800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62000" y="2286000"/>
            <a:ext cx="106680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762000" y="2286000"/>
            <a:ext cx="10668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889000" y="22860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户外意外保险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99000" y="23495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604000" y="23495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lang="zh-CN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509000" y="23495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800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62000" y="2844800"/>
            <a:ext cx="10668000" cy="5588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762000" y="2844800"/>
            <a:ext cx="10668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889000" y="28448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山顶路餐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699000" y="29083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604000" y="29083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</a:t>
            </a:r>
            <a:endParaRPr lang="zh-CN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509000" y="29083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1,000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62000" y="3403600"/>
            <a:ext cx="106680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/>
        </p:nvCxnSpPr>
        <p:spPr>
          <a:xfrm>
            <a:off x="762000" y="3403600"/>
            <a:ext cx="10668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889000" y="34036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急救物资与药品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699000" y="34671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300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604000" y="34671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</a:t>
            </a:r>
            <a:endParaRPr lang="zh-CN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509000" y="34671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300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762000" y="3962400"/>
            <a:ext cx="10668000" cy="558800"/>
          </a:xfrm>
          <a:prstGeom prst="rect">
            <a:avLst/>
          </a:prstGeom>
          <a:solidFill>
            <a:srgbClr val="EEF4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9" name="直接连接符 38"/>
          <p:cNvCxnSpPr/>
          <p:nvPr/>
        </p:nvCxnSpPr>
        <p:spPr>
          <a:xfrm>
            <a:off x="762000" y="3962400"/>
            <a:ext cx="10668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889000" y="39624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横幅与活动道具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699000" y="40259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200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604000" y="40259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</a:t>
            </a:r>
            <a:endParaRPr lang="zh-CN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509000" y="40259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200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62000" y="4521200"/>
            <a:ext cx="10668000" cy="558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5" name="直接连接符 44"/>
          <p:cNvCxnSpPr/>
          <p:nvPr/>
        </p:nvCxnSpPr>
        <p:spPr>
          <a:xfrm>
            <a:off x="762000" y="4521200"/>
            <a:ext cx="10668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889000" y="45212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2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</a:rPr>
              <a:t>机动备用金</a:t>
            </a:r>
            <a:endParaRPr lang="zh-CN" altLang="en-US" sz="12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699000" y="45847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200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604000" y="4584700"/>
            <a:ext cx="165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笔</a:t>
            </a:r>
            <a:endParaRPr lang="zh-CN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509000" y="45847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00">
                <a:solidFill>
                  <a:srgbClr val="202026"/>
                </a:solidFill>
                <a:latin typeface="微软雅黑" panose="020B0503020204020204" charset="-122"/>
                <a:ea typeface="微软雅黑" panose="020B0503020204020204" charset="-122"/>
              </a:rPr>
              <a:t>200</a:t>
            </a:r>
            <a:endParaRPr lang="en-US" altLang="en-US" sz="1300">
              <a:solidFill>
                <a:srgbClr val="2020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762000" y="5080000"/>
            <a:ext cx="10668000" cy="635"/>
          </a:xfrm>
          <a:prstGeom prst="line">
            <a:avLst/>
          </a:prstGeom>
          <a:ln w="11430">
            <a:solidFill>
              <a:srgbClr val="C4D0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圆角矩形 50"/>
          <p:cNvSpPr/>
          <p:nvPr/>
        </p:nvSpPr>
        <p:spPr>
          <a:xfrm>
            <a:off x="762000" y="5384800"/>
            <a:ext cx="10668000" cy="660400"/>
          </a:xfrm>
          <a:prstGeom prst="roundRect">
            <a:avLst/>
          </a:prstGeom>
          <a:solidFill>
            <a:srgbClr val="C0181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762000" y="5384800"/>
            <a:ext cx="1066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预算合计：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4,300 </a:t>
            </a:r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人均约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108 </a:t>
            </a:r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元（按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40 </a:t>
            </a:r>
            <a:r>
              <a:rPr lang="zh-CN" altLang="en-US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人计）</a:t>
            </a:r>
            <a:endParaRPr lang="zh-CN" altLang="en-US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accent_b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03200"/>
            <a:ext cx="88900" cy="266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6400" y="127000"/>
            <a:ext cx="8001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·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组织与总结</a:t>
            </a:r>
            <a:r>
              <a:rPr lang="en-US" altLang="zh-CN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500" b="1">
                <a:solidFill>
                  <a:srgbClr val="103E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分工明确，各司其职</a:t>
            </a:r>
            <a:endParaRPr lang="zh-CN" altLang="en-US" sz="2500" b="1">
              <a:solidFill>
                <a:srgbClr val="103E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074400" y="177800"/>
            <a:ext cx="279400" cy="279400"/>
          </a:xfrm>
          <a:prstGeom prst="roundRect">
            <a:avLst/>
          </a:prstGeom>
          <a:solidFill>
            <a:srgbClr val="245CA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074400" y="177800"/>
            <a:ext cx="279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404600" y="177800"/>
            <a:ext cx="7874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400" b="1">
                <a:solidFill>
                  <a:srgbClr val="245CAA"/>
                </a:solidFill>
                <a:latin typeface="微软雅黑" panose="020B0503020204020204" charset="-122"/>
                <a:ea typeface="微软雅黑" panose="020B0503020204020204" charset="-122"/>
              </a:rPr>
              <a:t>Lantern</a:t>
            </a:r>
            <a:endParaRPr lang="en-US" altLang="en-US" sz="1400" b="1">
              <a:solidFill>
                <a:srgbClr val="245C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28600" y="609600"/>
            <a:ext cx="11734800" cy="635"/>
          </a:xfrm>
          <a:prstGeom prst="line">
            <a:avLst/>
          </a:prstGeom>
          <a:ln w="25400">
            <a:solidFill>
              <a:srgbClr val="6094D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8600" y="647700"/>
            <a:ext cx="2032000" cy="635"/>
          </a:xfrm>
          <a:prstGeom prst="line">
            <a:avLst/>
          </a:prstGeom>
          <a:ln w="31750">
            <a:solidFill>
              <a:srgbClr val="245C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62000" y="1206500"/>
            <a:ext cx="317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62000" y="1206500"/>
            <a:ext cx="3175000" cy="1016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62000" y="15240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7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领队组</a:t>
            </a:r>
            <a:endParaRPr lang="zh-CN" altLang="en-US" sz="17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52500" y="20066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</a:rPr>
              <a:t>路线提前探勘，确认补给点与撤退路线；徒步中带队控速、前后照应，处理突发状况。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508500" y="1206500"/>
            <a:ext cx="317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508500" y="1206500"/>
            <a:ext cx="3175000" cy="1016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508500" y="15240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7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后勤组</a:t>
            </a:r>
            <a:endParaRPr lang="zh-CN" altLang="en-US" sz="17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99000" y="20066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</a:rPr>
              <a:t>物资采买与分发、补给点搭建、车辆调度；负责路餐、饮用水与应急物资的到点保障。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255000" y="1206500"/>
            <a:ext cx="317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BD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255000" y="1206500"/>
            <a:ext cx="3175000" cy="101600"/>
          </a:xfrm>
          <a:prstGeom prst="rect">
            <a:avLst/>
          </a:prstGeom>
          <a:solidFill>
            <a:srgbClr val="348E6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255000" y="15240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700" b="1">
                <a:solidFill>
                  <a:srgbClr val="1F5E44"/>
                </a:solidFill>
                <a:latin typeface="微软雅黑" panose="020B0503020204020204" charset="-122"/>
                <a:ea typeface="微软雅黑" panose="020B0503020204020204" charset="-122"/>
              </a:rPr>
              <a:t>宣传组</a:t>
            </a:r>
            <a:endParaRPr lang="zh-CN" altLang="en-US" sz="1700" b="1">
              <a:solidFill>
                <a:srgbClr val="1F5E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445500" y="20066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50">
                <a:solidFill>
                  <a:srgbClr val="4A6655"/>
                </a:solidFill>
                <a:latin typeface="微软雅黑" panose="020B0503020204020204" charset="-122"/>
                <a:ea typeface="微软雅黑" panose="020B0503020204020204" charset="-122"/>
              </a:rPr>
              <a:t>全程摄影记录、横幅与物料准备；活动后整理影像与图文回顾，沉淀团队记忆。</a:t>
            </a:r>
            <a:endParaRPr lang="zh-CN" altLang="en-US" sz="1250">
              <a:solidFill>
                <a:srgbClr val="4A66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图片 20" descr="bar_gre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64000"/>
            <a:ext cx="10668000" cy="7366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62000" y="4064000"/>
            <a:ext cx="1066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一次徒步，一次凝聚</a:t>
            </a:r>
            <a:r>
              <a:rPr lang="en-US" alt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让团队在春天里走得更有力</a:t>
            </a:r>
            <a:endParaRPr lang="zh-CN" alt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62000" y="5207000"/>
            <a:ext cx="10668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zh-CN" altLang="en-US" sz="13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本方案由</a:t>
            </a:r>
            <a:r>
              <a:rPr lang="en-US" altLang="zh-CN" sz="13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Lantern </a:t>
            </a:r>
            <a:r>
              <a:rPr lang="zh-CN" altLang="en-US" sz="13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全自动生成：内容以</a:t>
            </a:r>
            <a:r>
              <a:rPr lang="en-US" altLang="zh-CN" sz="13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JSON </a:t>
            </a:r>
            <a:r>
              <a:rPr lang="zh-CN" altLang="en-US" sz="1300">
                <a:solidFill>
                  <a:srgbClr val="7A94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描述，随时可调整时间、人数、预算后一键再生成。</a:t>
            </a:r>
            <a:endParaRPr lang="zh-CN" altLang="en-US" sz="1300">
              <a:solidFill>
                <a:srgbClr val="7A94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1078</Words>
  <Application>WPS 演示</Application>
  <PresentationFormat>宽屏</PresentationFormat>
  <Paragraphs>232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10625</dc:creator>
  <cp:lastModifiedBy>李聃0986</cp:lastModifiedBy>
  <cp:revision>157</cp:revision>
  <dcterms:created xsi:type="dcterms:W3CDTF">2019-06-19T02:08:00Z</dcterms:created>
  <dcterms:modified xsi:type="dcterms:W3CDTF">2026-10-29T08:53:05Z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C1578BE345384A87A3191FAC296FD9D4_11</vt:lpwstr>
  </property>
</Properties>
</file>